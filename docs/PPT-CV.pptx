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4393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7A9E7E">
              <a:alpha val="10000"/>
            </a:srgbClr>
          </a:solidFill>
          <a:ln w="12700">
            <a:solidFill>
              <a:srgbClr val="7A9E7E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848" y="408790"/>
            <a:ext cx="1463040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848" y="40879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3848" y="77455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AI Dashcam</a:t>
            </a:r>
            <a:endParaRPr lang="en-US" sz="3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Explainer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33848" y="223759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· Edge AI · Traffic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3848" y="269479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  ·  2025–26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F81FC9B-F2A2-5944-5EDA-90DD37D63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721218"/>
              </p:ext>
            </p:extLst>
          </p:nvPr>
        </p:nvGraphicFramePr>
        <p:xfrm>
          <a:off x="533848" y="3294230"/>
          <a:ext cx="3802828" cy="12700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1313557365"/>
                    </a:ext>
                  </a:extLst>
                </a:gridCol>
                <a:gridCol w="1303019">
                  <a:extLst>
                    <a:ext uri="{9D8B030D-6E8A-4147-A177-3AD203B41FA5}">
                      <a16:colId xmlns:a16="http://schemas.microsoft.com/office/drawing/2014/main" val="3436254289"/>
                    </a:ext>
                  </a:extLst>
                </a:gridCol>
                <a:gridCol w="1062318">
                  <a:extLst>
                    <a:ext uri="{9D8B030D-6E8A-4147-A177-3AD203B41FA5}">
                      <a16:colId xmlns:a16="http://schemas.microsoft.com/office/drawing/2014/main" val="575737722"/>
                    </a:ext>
                  </a:extLst>
                </a:gridCol>
                <a:gridCol w="865991">
                  <a:extLst>
                    <a:ext uri="{9D8B030D-6E8A-4147-A177-3AD203B41FA5}">
                      <a16:colId xmlns:a16="http://schemas.microsoft.com/office/drawing/2014/main" val="31554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Sr. No.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Student Name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PRN No.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Roll No.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94813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Kunal Tailor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1032233258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38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875354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Rishav Singh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1032233012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34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46767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Prakash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1032233277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40</a:t>
                      </a:r>
                      <a:endParaRPr lang="en-IN" sz="110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588721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Anuj Kudu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1032233203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000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36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451301649"/>
                  </a:ext>
                </a:extLst>
              </a:tr>
            </a:tbl>
          </a:graphicData>
        </a:graphic>
      </p:graphicFrame>
      <p:sp>
        <p:nvSpPr>
          <p:cNvPr id="14" name="Text 6">
            <a:extLst>
              <a:ext uri="{FF2B5EF4-FFF2-40B4-BE49-F238E27FC236}">
                <a16:creationId xmlns:a16="http://schemas.microsoft.com/office/drawing/2014/main" id="{E187864B-C2B4-767B-7594-B0E1A771D72D}"/>
              </a:ext>
            </a:extLst>
          </p:cNvPr>
          <p:cNvSpPr/>
          <p:nvPr/>
        </p:nvSpPr>
        <p:spPr>
          <a:xfrm>
            <a:off x="4988859" y="3953435"/>
            <a:ext cx="2299000" cy="597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i="1" dirty="0">
              <a:solidFill>
                <a:srgbClr val="E8C9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Trupti Baraskar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3716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060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Review is Slow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258568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adjusters spend hours scrubbing through raw footage for a single claim, creating multi-day processing backlogs.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060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05840"/>
            <a:ext cx="26060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43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01568" y="18105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Expensive &amp; Error-Prone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2258568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costs ~$35–$80 per claim hour. Fatigue leads to missed incidents, incorrect fault attribution, and disputes.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060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6060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143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☁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36208" y="18105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AI Compromises Privacy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258568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(Nexar, Mobileye) upload sensitive footage to vendor servers — exposing driver location, identity &amp; behaviour.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37083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pipelines are slow, costly, and trade user privacy for automation.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5B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7A9E7E">
              <a:alpha val="10000"/>
            </a:srgbClr>
          </a:solidFill>
          <a:ln w="12700">
            <a:solidFill>
              <a:srgbClr val="7A9E7E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95528"/>
            <a:ext cx="13716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8C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local, end-to-end AI pipeline — no cloud, no compromise.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77640" cy="1371600"/>
          </a:xfrm>
          <a:prstGeom prst="rect">
            <a:avLst/>
          </a:prstGeom>
          <a:solidFill>
            <a:srgbClr val="1E2B4A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777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15819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Cloud Reliance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9202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inference runs on local hardware. No footage ever leaves the device.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77640" cy="1371600"/>
          </a:xfrm>
          <a:prstGeom prst="rect">
            <a:avLst/>
          </a:prstGeom>
          <a:solidFill>
            <a:srgbClr val="1E2B4A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417320"/>
            <a:ext cx="777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532120" y="15819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Local Pipeline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32120" y="19202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YOLO11, SORT, MiniCPM-V &amp; Mistral — entirely on-device via Ollama.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371600"/>
          </a:xfrm>
          <a:prstGeom prst="rect">
            <a:avLst/>
          </a:prstGeom>
          <a:solidFill>
            <a:srgbClr val="1E2B4A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017520"/>
            <a:ext cx="777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234440" y="31821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Automation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35204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video in → privacy-blurred PDF insurance report out. Fully automated.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3977640" cy="1371600"/>
          </a:xfrm>
          <a:prstGeom prst="rect">
            <a:avLst/>
          </a:prstGeom>
          <a:solidFill>
            <a:srgbClr val="1E2B4A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017520"/>
            <a:ext cx="777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532120" y="31821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&amp; Efficient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2120" y="35204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Motion-scored keyframe sampling drops static frames, saving 60% compute.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95528"/>
            <a:ext cx="16459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5-Phase Modular Pipeline — From Raw Video to PDF Report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1463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14630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93192" y="210312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93192" y="23774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" y="28346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+ Motion Score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83080" y="2926080"/>
            <a:ext cx="256032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2808" y="281635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4C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39112" y="1280160"/>
            <a:ext cx="1463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39112" y="1280160"/>
            <a:ext cx="14630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39112" y="1417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112264" y="210312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112264" y="23774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12264" y="28346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 + SORT + Optical Flow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02152" y="2926080"/>
            <a:ext cx="256032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281635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4C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58184" y="1280160"/>
            <a:ext cx="1463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58184" y="1280160"/>
            <a:ext cx="1463040" cy="64008"/>
          </a:xfrm>
          <a:prstGeom prst="rect">
            <a:avLst/>
          </a:prstGeom>
          <a:solidFill>
            <a:srgbClr val="7A9E7E"/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58184" y="1417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831336" y="210312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831336" y="23774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831336" y="28346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MiniCPM-V + Mistral 7B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21224" y="2926080"/>
            <a:ext cx="256032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0952" y="281635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4C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77256" y="1280160"/>
            <a:ext cx="1463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77256" y="1280160"/>
            <a:ext cx="1463040" cy="64008"/>
          </a:xfrm>
          <a:prstGeom prst="rect">
            <a:avLst/>
          </a:prstGeom>
          <a:solidFill>
            <a:srgbClr val="6D5ACF"/>
          </a:solidFill>
          <a:ln w="12700">
            <a:solidFill>
              <a:srgbClr val="6D5AC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77256" y="1417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550408" y="210312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6D5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550408" y="23774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Sanitize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550408" y="28346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&amp; Plate Blur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40296" y="2926080"/>
            <a:ext cx="256032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50024" y="281635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4C"/>
                </a:solidFill>
              </a:rPr>
              <a:t>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96328" y="1280160"/>
            <a:ext cx="1463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96328" y="1280160"/>
            <a:ext cx="146304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96328" y="1417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7269480" y="210312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269480" y="23774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269480" y="28346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PDF + Gradio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phases run on local hardware — Apple M-series (MPS) or NVIDIA GPU (CUDA)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5B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 —  Smart Keyframe Extraction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95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B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 ·  Frame-Differencing Motion Score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4114800" cy="3383280"/>
          </a:xfrm>
          <a:prstGeom prst="rect">
            <a:avLst/>
          </a:prstGeom>
          <a:solidFill>
            <a:srgbClr val="1E2B4A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280160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51560" y="12618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Ingestion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53619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Dashcam .mp4 uploaded via drag-and-drop Gradio UI or CLI.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2322576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1560" y="23042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Uniform FPS Mode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57860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frames at configurable rate (5–10 FPS) for shorter clips.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" y="3364992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51560" y="33467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Motion Mode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362102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absolute frame-difference score between consecutive frames. Only saves high-motion frames exceeding a dynamic threshold — ignoring red-lights, static parking, etc.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92040" y="1143000"/>
            <a:ext cx="3840480" cy="987552"/>
          </a:xfrm>
          <a:prstGeom prst="rect">
            <a:avLst/>
          </a:prstGeom>
          <a:solidFill>
            <a:srgbClr val="1A2540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1143000"/>
            <a:ext cx="64008" cy="9875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21615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492240" y="1252728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frames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downstream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286000"/>
            <a:ext cx="3840480" cy="987552"/>
          </a:xfrm>
          <a:prstGeom prst="rect">
            <a:avLst/>
          </a:prstGeom>
          <a:solidFill>
            <a:srgbClr val="1A2540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2286000"/>
            <a:ext cx="64008" cy="9875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35915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5–10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492240" y="2395728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FPS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rate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3429000"/>
            <a:ext cx="3840480" cy="987552"/>
          </a:xfrm>
          <a:prstGeom prst="rect">
            <a:avLst/>
          </a:prstGeom>
          <a:solidFill>
            <a:srgbClr val="1A2540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3429000"/>
            <a:ext cx="64008" cy="9875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50215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±0s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6492240" y="3538728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latency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(fully offline)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 —  Core Vision Engine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95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 Object Detection  ·  SORT Multi-Object Tracker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3977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397764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YOLO11 Detector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556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single-stage object detector.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to 6 relevant COCO classes: person, bicycle, car, motorcycle, bus, truck.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9992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bounding boxes with class labels and confidence scores per frame.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362102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real-time inference on Apple MPS and CUDA backends.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3977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143000"/>
            <a:ext cx="3977640" cy="73152"/>
          </a:xfrm>
          <a:prstGeom prst="rect">
            <a:avLst/>
          </a:prstGeom>
          <a:solidFill>
            <a:srgbClr val="7A9E7E"/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28016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📍  SORT Tracker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7556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Online and Realtime Tracking (SORT) maintains persistent vehicle IDs.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Filters predict next-frame position using constant-velocity motion model.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29992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Algorithm assigns identities using Bounding Box IoU correlation.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362102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crash detection by tracking two boxes converging over time.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5B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Trigger Logic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95528"/>
            <a:ext cx="13716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778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C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Farneback Optical Flow  +  IoU Convergence  =  Definitive Crash Detection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468880" cy="1554480"/>
          </a:xfrm>
          <a:prstGeom prst="rect">
            <a:avLst/>
          </a:prstGeom>
          <a:solidFill>
            <a:srgbClr val="1E2B4A"/>
          </a:solidFill>
          <a:ln w="6350">
            <a:solidFill>
              <a:srgbClr val="C9A84C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46888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081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Stream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73936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&gt; 0.15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(bounding boxes converge)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280160"/>
            <a:ext cx="2468880" cy="1554480"/>
          </a:xfrm>
          <a:prstGeom prst="rect">
            <a:avLst/>
          </a:prstGeom>
          <a:solidFill>
            <a:srgbClr val="1E2B4A"/>
          </a:solidFill>
          <a:ln w="6350">
            <a:solidFill>
              <a:srgbClr val="7A9E7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280160"/>
            <a:ext cx="2468880" cy="73152"/>
          </a:xfrm>
          <a:prstGeom prst="rect">
            <a:avLst/>
          </a:prstGeom>
          <a:solidFill>
            <a:srgbClr val="7A9E7E"/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4081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Optical Flow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773936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spike &gt;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+ k × std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1508760"/>
            <a:ext cx="731520" cy="7315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2057400"/>
            <a:ext cx="27432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280160"/>
            <a:ext cx="2286000" cy="1554480"/>
          </a:xfrm>
          <a:prstGeom prst="rect">
            <a:avLst/>
          </a:prstGeom>
          <a:solidFill>
            <a:srgbClr val="3B1F1A"/>
          </a:solidFill>
          <a:ln w="6350">
            <a:solidFill>
              <a:srgbClr val="C0392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1280160"/>
            <a:ext cx="2286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41732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🚨 CRASH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FFmpeg auto-slices a precise ±5-second clip around the detected incident moment.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01568"/>
            <a:ext cx="2697480" cy="1463040"/>
          </a:xfrm>
          <a:prstGeom prst="rect">
            <a:avLst/>
          </a:prstGeom>
          <a:solidFill>
            <a:srgbClr val="1E2B4A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5204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Optical Flow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3858768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Farneback algorithm computes per-pixel velocity vectors. 30-frame rolling average baseline identifies sudden speed anomalies.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37560" y="3401568"/>
            <a:ext cx="2697480" cy="1463040"/>
          </a:xfrm>
          <a:prstGeom prst="rect">
            <a:avLst/>
          </a:prstGeom>
          <a:solidFill>
            <a:srgbClr val="1E2B4A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74720" y="35204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IoU Convergence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74720" y="3858768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tracked bounding boxes must overlap beyond IoU threshold of 0.15, indicating physical collision or near-miss.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3401568"/>
            <a:ext cx="2697480" cy="1463040"/>
          </a:xfrm>
          <a:prstGeom prst="rect">
            <a:avLst/>
          </a:prstGeom>
          <a:solidFill>
            <a:srgbClr val="1E2B4A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55080" y="35204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Confirmation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55080" y="3858768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signals must fire simultaneously — eliminates false positives from sudden braking or camera shake alone.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7A9E7E"/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 —  Vision-Language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95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MiniCPM-V 2.6  ·  8B Parameters  ·  Fully Local via Ollama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4231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4231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61872"/>
            <a:ext cx="2057400" cy="1005840"/>
          </a:xfrm>
          <a:prstGeom prst="rect">
            <a:avLst/>
          </a:prstGeom>
          <a:solidFill>
            <a:srgbClr val="2D2D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61872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🎞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PRE-IMPACT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frame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~2s before collision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24231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97280"/>
            <a:ext cx="24231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261872"/>
            <a:ext cx="2057400" cy="1005840"/>
          </a:xfrm>
          <a:prstGeom prst="rect">
            <a:avLst/>
          </a:prstGeom>
          <a:solidFill>
            <a:srgbClr val="2D2D3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261872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🎞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46120" y="230428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crash frame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(highest motion score)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852160" y="1097280"/>
            <a:ext cx="24231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52160" y="1097280"/>
            <a:ext cx="2423160" cy="73152"/>
          </a:xfrm>
          <a:prstGeom prst="rect">
            <a:avLst/>
          </a:prstGeom>
          <a:solidFill>
            <a:srgbClr val="6D5ACF"/>
          </a:solidFill>
          <a:ln w="12700">
            <a:solidFill>
              <a:srgbClr val="6D5A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261872"/>
            <a:ext cx="2057400" cy="1005840"/>
          </a:xfrm>
          <a:prstGeom prst="rect">
            <a:avLst/>
          </a:prstGeom>
          <a:solidFill>
            <a:srgbClr val="2D2D3A"/>
          </a:solidFill>
          <a:ln w="12700">
            <a:solidFill>
              <a:srgbClr val="6D5A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261872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🎞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943600" y="230428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D5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POST-IMPACT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Aftermath frame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~2s after collision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exactly 3 frames?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456432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ablation studies show that 1 frame misses critical pre/post context, while 5 frames offer marginal ROUGE improvement (+4%) at 2× the inference cost. 3 frames is the optimal sweet spot.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017520"/>
            <a:ext cx="4160520" cy="1783080"/>
          </a:xfrm>
          <a:prstGeom prst="rect">
            <a:avLst/>
          </a:prstGeom>
          <a:solidFill>
            <a:srgbClr val="1A1A2E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0906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MiniCPM-V Output — Structured JSON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3401568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"vehicles": ["sedan", "SUV"],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0" y="3648456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"fault_analysis": "Vehicle A ran red",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46320" y="3895344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"conditions": "daylight, dry road",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46320" y="4142232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"severity": "HIGH",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46320" y="4389120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0.87 }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5B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Prose Generation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95528"/>
            <a:ext cx="18288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778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C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 Instruct  ·  Running via Ollama Daemon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234440" cy="960120"/>
          </a:xfrm>
          <a:prstGeom prst="rect">
            <a:avLst/>
          </a:prstGeom>
          <a:solidFill>
            <a:srgbClr val="1E2B4A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887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Metadata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MiniCPM-V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697480" y="12344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A84C"/>
                </a:solidFill>
              </a:rPr>
              <a:t>▶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29000" y="1143000"/>
            <a:ext cx="1234440" cy="960120"/>
          </a:xfrm>
          <a:prstGeom prst="rect">
            <a:avLst/>
          </a:prstGeom>
          <a:solidFill>
            <a:srgbClr val="1E2B4A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1887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9000" y="157276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Prompt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15000" y="12344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A84C"/>
                </a:solidFill>
              </a:rPr>
              <a:t>▶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46520" y="1143000"/>
            <a:ext cx="1234440" cy="960120"/>
          </a:xfrm>
          <a:prstGeom prst="rect">
            <a:avLst/>
          </a:prstGeom>
          <a:solidFill>
            <a:srgbClr val="1E2B4A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1887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157276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 Report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2194560"/>
          </a:xfrm>
          <a:prstGeom prst="rect">
            <a:avLst/>
          </a:prstGeom>
          <a:solidFill>
            <a:srgbClr val="12193A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286000"/>
            <a:ext cx="82296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39572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INCIDENT REPORT  ·  AUTO-GENERATED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2697480"/>
            <a:ext cx="7955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[DATE] at approximately [TIME], a collision occurred at [LOCATION]. Analysis of dashcam footage indicates that Vehicle A (sedan, dark grey) was proceeding through the intersection under a green signal when Vehicle B (silver SUV) entered from the cross-street, failing to yield. Fault assessment: Vehicle B is the primary liable party with HIGH confidence (0.87). Road conditions were dry; visibility was clear. No pedestrians were involved. Recommend claim processing with attached supporting footage.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D5ACF"/>
          </a:solidFill>
          <a:ln w="12700">
            <a:solidFill>
              <a:srgbClr val="6D5A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 —  Privacy Enforcement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795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D5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sensitive visual data sanitized locally before export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397764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3977640" cy="73152"/>
          </a:xfrm>
          <a:prstGeom prst="rect">
            <a:avLst/>
          </a:prstGeom>
          <a:solidFill>
            <a:srgbClr val="6D5ACF"/>
          </a:solidFill>
          <a:ln w="12700">
            <a:solidFill>
              <a:srgbClr val="6D5A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Blurring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3042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SSD ResNet10 DNN detects driver &amp; pedestrian faces.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8529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Gaussian blur applied to each detected face region.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4015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fallback for edge cases where DNN misses.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9502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only the crash-zone region for efficiency.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397764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097280"/>
            <a:ext cx="3977640" cy="73152"/>
          </a:xfrm>
          <a:prstGeom prst="rect">
            <a:avLst/>
          </a:prstGeom>
          <a:solidFill>
            <a:srgbClr val="7A9E7E"/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2344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🚗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983480" y="18745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Licence Plate Blurring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3042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YOLO11 vehicle crop bounding boxes.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8529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heuristic ROI maps lower-third of vehicle crop as plate region.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34015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heavy ALPR model — no extra GPU overhead.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39502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on Indian plates, EU plates, and US formats.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773168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D5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Privacy guarantee: no face or plate data persists beyond the export pipeline.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5B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Output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95528"/>
            <a:ext cx="9144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778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C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PDF  ·  Gradio Web Interface  ·  Downloadable MP4 Clips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206240" cy="3520440"/>
          </a:xfrm>
          <a:prstGeom prst="rect">
            <a:avLst/>
          </a:prstGeom>
          <a:solidFill>
            <a:srgbClr val="1A2540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42062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📄  ReportLab Insurance PDF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prose narrative (auto-generated)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29514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MiniCPM-V JSON metadata block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80720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Auto-coloured severity badge (LOW / MED / HIGH)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3192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Privacy-blurred keyframe thumbnails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83133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timestamp and clip reference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92040" y="1188720"/>
            <a:ext cx="3794760" cy="3520440"/>
          </a:xfrm>
          <a:prstGeom prst="rect">
            <a:avLst/>
          </a:prstGeom>
          <a:solidFill>
            <a:srgbClr val="1A2540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1188720"/>
            <a:ext cx="3794760" cy="73152"/>
          </a:xfrm>
          <a:prstGeom prst="rect">
            <a:avLst/>
          </a:prstGeom>
          <a:solidFill>
            <a:srgbClr val="7A9E7E"/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32588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  Gradio Web UI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17830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video upload zone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0" y="229514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terminal log streaming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0" y="280720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PDF download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331927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 incident clip preview &amp; download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383133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localhost:7860 — no internet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&amp; Domain Tuning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95528"/>
            <a:ext cx="16459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07008"/>
            <a:ext cx="731520" cy="219456"/>
          </a:xfrm>
          <a:prstGeom prst="rect">
            <a:avLst/>
          </a:prstGeom>
          <a:solidFill>
            <a:srgbClr val="F0E6CC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070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18928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Crash Dataset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~1,500 dashcam crash clips with frame-level annotations for training and evaluation.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09728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97280"/>
            <a:ext cx="265176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1207008"/>
            <a:ext cx="731520" cy="219456"/>
          </a:xfrm>
          <a:prstGeom prst="rect">
            <a:avLst/>
          </a:prstGeom>
          <a:solidFill>
            <a:srgbClr val="F0E6CC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2070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474720" y="1463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74720" y="18928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of Traffic Anomaly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0" y="2194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Spatiotemporal anomaly detection benchmark across 4,677 clips with diverse crash types.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109728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097280"/>
            <a:ext cx="265176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1207008"/>
            <a:ext cx="731520" cy="219456"/>
          </a:xfrm>
          <a:prstGeom prst="rect">
            <a:avLst/>
          </a:prstGeom>
          <a:solidFill>
            <a:srgbClr val="F0E6CC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2070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355080" y="1463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DADA-2000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55080" y="18928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Attention in Driving Accident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55080" y="2194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accident videos with driver gaze, attention heatmaps, and accident annotations.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82296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520440"/>
            <a:ext cx="8229600" cy="73152"/>
          </a:xfrm>
          <a:prstGeom prst="rect">
            <a:avLst/>
          </a:prstGeom>
          <a:solidFill>
            <a:srgbClr val="7A9E7E"/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63016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🇮🇳  Indian Road Conditions Fine-Tuning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400507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 fine-tuned on Indian dashcam data to correctly detect auto-rickshaws, two-wheelers (motorbikes &amp; bicycles), cattle, and pedestrians in dense, mixed-traffic urban scenarios typical of Indian roads.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5B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Ablation Studies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95528"/>
            <a:ext cx="18288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1920240" cy="1417320"/>
          </a:xfrm>
          <a:prstGeom prst="rect">
            <a:avLst/>
          </a:prstGeom>
          <a:solidFill>
            <a:srgbClr val="1E2B4A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9202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52144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 + SORT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06040" y="1051560"/>
            <a:ext cx="1920240" cy="1417320"/>
          </a:xfrm>
          <a:prstGeom prst="rect">
            <a:avLst/>
          </a:prstGeom>
          <a:solidFill>
            <a:srgbClr val="1E2B4A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051560"/>
            <a:ext cx="19202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152144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06040" y="18105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06040" y="21488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prose vs human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1920240" cy="1417320"/>
          </a:xfrm>
          <a:prstGeom prst="rect">
            <a:avLst/>
          </a:prstGeom>
          <a:solidFill>
            <a:srgbClr val="1E2B4A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51560"/>
            <a:ext cx="19202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152144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54880" y="18105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Keyframes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1488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Sweet-spot balance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903720" y="1051560"/>
            <a:ext cx="1920240" cy="1417320"/>
          </a:xfrm>
          <a:prstGeom prst="rect">
            <a:avLst/>
          </a:prstGeom>
          <a:solidFill>
            <a:srgbClr val="1E2B4A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051560"/>
            <a:ext cx="192024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152144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03720" y="18105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03720" y="21488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sampling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Ablation: Keyframe Count vs Quality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5029200" cy="1783080"/>
        </p:xfrm>
        <a:graphic>
          <a:graphicData uri="http://schemas.openxmlformats.org/drawingml/2006/table">
            <a:tbl>
              <a:tblPr/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BLEU-4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D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frame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D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D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D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C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frames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C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C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C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~19s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D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frames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D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D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D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~38s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715000" y="2606040"/>
            <a:ext cx="2971800" cy="2194560"/>
          </a:xfrm>
          <a:prstGeom prst="rect">
            <a:avLst/>
          </a:prstGeom>
          <a:solidFill>
            <a:srgbClr val="1E2B4A"/>
          </a:solidFill>
          <a:ln w="6350">
            <a:solidFill>
              <a:srgbClr val="2D3F6E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852160" y="2724912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852160" y="3044952"/>
            <a:ext cx="2697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frames delivers 97% of the quality at 50% of the latency compared to 5 frames. This was validated across all three datasets (CCD, DoTA, DADA-2000) with consistent results.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95528"/>
            <a:ext cx="109728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77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61288"/>
            <a:ext cx="914400" cy="228600"/>
          </a:xfrm>
          <a:prstGeom prst="rect">
            <a:avLst/>
          </a:prstGeom>
          <a:solidFill>
            <a:srgbClr val="EDF4EE"/>
          </a:solidFill>
          <a:ln w="6350">
            <a:solidFill>
              <a:srgbClr val="7A9E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Upgrade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94360" y="143560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🎬  Video-LLaVA Integration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1051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from 3-frame snapshots to full video-understanding models (Video-LLaVA, LLaMA-Video) that process temporal sequences natively, enabling richer crash timeline narration.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77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161288"/>
            <a:ext cx="914400" cy="228600"/>
          </a:xfrm>
          <a:prstGeom prst="rect">
            <a:avLst/>
          </a:prstGeom>
          <a:solidFill>
            <a:srgbClr val="EDF4EE"/>
          </a:solidFill>
          <a:ln w="6350">
            <a:solidFill>
              <a:srgbClr val="7A9E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61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892040" y="143560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🔤  Dedicated ALPR Head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81051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lightweight dedicated YOLO head trained specifically for Automatic Licence Plate Recognition (ALPR) — replacing the current heuristic ROI approach for higher plate-read accuracy.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977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035808"/>
            <a:ext cx="914400" cy="228600"/>
          </a:xfrm>
          <a:prstGeom prst="rect">
            <a:avLst/>
          </a:prstGeom>
          <a:solidFill>
            <a:srgbClr val="EDF4EE"/>
          </a:solidFill>
          <a:ln w="6350">
            <a:solidFill>
              <a:srgbClr val="7A9E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35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4360" y="331012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📡  OBD-II Telemetry Fusion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68503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real-time On-Board Diagnostics (OBD-II) data — speed, brake pressure, steering angle — directly into the incident model for physics-grounded fault analysis.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776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4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035808"/>
            <a:ext cx="914400" cy="228600"/>
          </a:xfrm>
          <a:prstGeom prst="rect">
            <a:avLst/>
          </a:prstGeom>
          <a:solidFill>
            <a:srgbClr val="EDF4EE"/>
          </a:solidFill>
          <a:ln w="6350">
            <a:solidFill>
              <a:srgbClr val="7A9E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35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892040" y="331012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📱  Mobile Edge Deployment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68503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Quantise models (GGUF INT4/INT8) for deployment on Snapdragon 8 Gen chips — enabling real-time in-car incident detection without any external hardware.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A5B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C9A84C">
              <a:alpha val="8000"/>
            </a:srgbClr>
          </a:solidFill>
          <a:ln w="1270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7A9E7E">
              <a:alpha val="10000"/>
            </a:srgbClr>
          </a:solidFill>
          <a:ln w="12700">
            <a:solidFill>
              <a:srgbClr val="7A9E7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D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Dashcam Incident Explainer  ·  Dept. of CSE  ·  2025–26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YOLO11 · MiniCPM-V · Mistral · Ollama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1480</Words>
  <Application>Microsoft Office PowerPoint</Application>
  <PresentationFormat>On-screen Show (16:9)</PresentationFormat>
  <Paragraphs>293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AI Dashcam Incident Explainer</dc:title>
  <dc:subject>PptxGenJS Presentation</dc:subject>
  <dc:creator>Research Team</dc:creator>
  <cp:lastModifiedBy>Rishav Singh</cp:lastModifiedBy>
  <cp:revision>3</cp:revision>
  <dcterms:created xsi:type="dcterms:W3CDTF">2026-04-23T14:17:51Z</dcterms:created>
  <dcterms:modified xsi:type="dcterms:W3CDTF">2026-04-23T14:33:04Z</dcterms:modified>
</cp:coreProperties>
</file>